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svg" ContentType="image/svg+xml"/>
  <Override PartName="/ppt/media/image-1-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file: MEDICLEAR poster dataset and poster requirements.
- User-provided file: EECS 486 Information Retrieval and Web Search project guidelines.
- User-provided file: MediClear draft paper with methods, related work, and background framing.
- User-provided sample poster image used only as a visual style reference for typography, spacing, and section structure.
- Streamlit interface mockup synthesized from the uploaded streamlit_app.py code and labels.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109728"/>
          </a:xfrm>
          <a:prstGeom prst="rect">
            <a:avLst/>
          </a:prstGeom>
          <a:solidFill>
            <a:srgbClr val="D3D6DA"/>
          </a:solidFill>
          <a:ln w="12700">
            <a:solidFill>
              <a:srgbClr val="D3D6D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09728"/>
            <a:ext cx="43891200" cy="4526280"/>
          </a:xfrm>
          <a:prstGeom prst="rect">
            <a:avLst/>
          </a:prstGeom>
          <a:solidFill>
            <a:srgbClr val="00274C"/>
          </a:solidFill>
          <a:ln w="12700">
            <a:solidFill>
              <a:srgbClr val="00274C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31866840"/>
            <a:ext cx="43891200" cy="1051560"/>
          </a:xfrm>
          <a:prstGeom prst="rect">
            <a:avLst/>
          </a:prstGeom>
          <a:solidFill>
            <a:srgbClr val="00274C"/>
          </a:solidFill>
          <a:ln w="12700">
            <a:solidFill>
              <a:srgbClr val="00274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47548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 of Michigan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301680" y="4754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UMIR 2026 · OpenReview Submission #5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0" y="530352"/>
            <a:ext cx="3218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MediClear: Medical Text Simplification with Credibility Scoring</a:t>
            </a:r>
            <a:endParaRPr lang="en-US" sz="11800" dirty="0"/>
          </a:p>
        </p:txBody>
      </p:sp>
      <p:sp>
        <p:nvSpPr>
          <p:cNvPr id="8" name="Text 6"/>
          <p:cNvSpPr/>
          <p:nvPr/>
        </p:nvSpPr>
        <p:spPr>
          <a:xfrm>
            <a:off x="4937760" y="1572768"/>
            <a:ext cx="3401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Dhruv Bhagavatula, Thomas Connor Klein, Neha Kanneganti, Kenny Jun Woo Bay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3090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7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 of Michigan · EECS 486: Information Retrieval and Web Search · github.com/dbhag/Mediclear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157680" y="32004000"/>
            <a:ext cx="1618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CB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EECS 486: Information Retrieval and Web Search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6F6F6F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6F6F6F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6F6F6F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502920" y="4892040"/>
            <a:ext cx="10012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8200" dirty="0"/>
          </a:p>
        </p:txBody>
      </p:sp>
      <p:sp>
        <p:nvSpPr>
          <p:cNvPr id="16" name="Text 14"/>
          <p:cNvSpPr/>
          <p:nvPr/>
        </p:nvSpPr>
        <p:spPr>
          <a:xfrm>
            <a:off x="521208" y="5623560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576072" y="6163056"/>
            <a:ext cx="9848088" cy="4892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39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Online health information is easy to access, but much of it is written in specialized medical language.</a:t>
            </a:r>
            <a:endParaRPr lang="en-US" sz="3470" dirty="0"/>
          </a:p>
          <a:p>
            <a:pPr algn="l" indent="0" marL="0">
              <a:buNone/>
            </a:pPr>
            <a:r>
              <a:rPr lang="en-US" sz="339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Patients and caregivers often need a fast plain-English explanation before advice becomes actionable.</a:t>
            </a:r>
            <a:endParaRPr lang="en-US" sz="3470" dirty="0"/>
          </a:p>
          <a:p>
            <a:pPr algn="l" indent="0" marL="0">
              <a:buNone/>
            </a:pPr>
            <a:r>
              <a:rPr lang="en-US" sz="339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same search space also circulates misleading or false health claims that are difficult to judge quickly.</a:t>
            </a:r>
            <a:endParaRPr lang="en-US" sz="3470" dirty="0"/>
          </a:p>
          <a:p>
            <a:pPr algn="l" indent="0" marL="0">
              <a:buNone/>
            </a:pPr>
            <a:r>
              <a:rPr lang="en-US" sz="339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MediClear tackles both problems in one workflow: simplify the text, then score the claim's credibility.</a:t>
            </a:r>
            <a:endParaRPr lang="en-US" sz="3470" dirty="0"/>
          </a:p>
        </p:txBody>
      </p:sp>
      <p:sp>
        <p:nvSpPr>
          <p:cNvPr id="18" name="Shape 16"/>
          <p:cNvSpPr/>
          <p:nvPr/>
        </p:nvSpPr>
        <p:spPr>
          <a:xfrm>
            <a:off x="576072" y="11265408"/>
            <a:ext cx="146304" cy="1627632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" y="11265408"/>
            <a:ext cx="9720072" cy="1627632"/>
          </a:xfrm>
          <a:prstGeom prst="roundRect">
            <a:avLst>
              <a:gd name="adj" fmla="val 4494"/>
            </a:avLst>
          </a:prstGeom>
          <a:solidFill>
            <a:srgbClr val="FBFBFB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114757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6800" dirty="0"/>
          </a:p>
        </p:txBody>
      </p:sp>
      <p:sp>
        <p:nvSpPr>
          <p:cNvPr id="21" name="Text 19"/>
          <p:cNvSpPr/>
          <p:nvPr/>
        </p:nvSpPr>
        <p:spPr>
          <a:xfrm>
            <a:off x="2313432" y="11548872"/>
            <a:ext cx="792784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paper highlights limited health literacy as a major barrier for users making sense of online medical information.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1208" y="13240512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example</a:t>
            </a:r>
            <a:endParaRPr lang="en-US" sz="6000" dirty="0"/>
          </a:p>
        </p:txBody>
      </p:sp>
      <p:sp>
        <p:nvSpPr>
          <p:cNvPr id="23" name="Shape 21"/>
          <p:cNvSpPr/>
          <p:nvPr/>
        </p:nvSpPr>
        <p:spPr>
          <a:xfrm>
            <a:off x="594360" y="13789152"/>
            <a:ext cx="9829800" cy="2606040"/>
          </a:xfrm>
          <a:prstGeom prst="roundRect">
            <a:avLst>
              <a:gd name="adj" fmla="val 2807"/>
            </a:avLst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139537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1520" y="14337792"/>
            <a:ext cx="950976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957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“The patient is experiencing dyspnea during mild exertion.”</a:t>
            </a:r>
            <a:endParaRPr lang="en-US" sz="2997" dirty="0"/>
          </a:p>
        </p:txBody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15270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31520" y="15645384"/>
            <a:ext cx="95097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957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“The person has shortness of breath with light activity.”</a:t>
            </a:r>
            <a:endParaRPr lang="en-US" sz="2997" dirty="0"/>
          </a:p>
        </p:txBody>
      </p:sp>
      <p:sp>
        <p:nvSpPr>
          <p:cNvPr id="29" name="Text 27"/>
          <p:cNvSpPr/>
          <p:nvPr/>
        </p:nvSpPr>
        <p:spPr>
          <a:xfrm>
            <a:off x="521208" y="16623792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term changes</a:t>
            </a:r>
            <a:endParaRPr lang="en-US" sz="6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172432"/>
          <a:ext cx="9829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6629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Medical term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Plain-English output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hypertension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blood pressure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dyspnea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shortness of breath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pruritus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itching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edema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swelling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metastatic disease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cancer has spread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521208" y="19888200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6000" dirty="0"/>
          </a:p>
        </p:txBody>
      </p:sp>
      <p:sp>
        <p:nvSpPr>
          <p:cNvPr id="32" name="Text 29"/>
          <p:cNvSpPr/>
          <p:nvPr/>
        </p:nvSpPr>
        <p:spPr>
          <a:xfrm>
            <a:off x="576072" y="20427696"/>
            <a:ext cx="9848088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1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Reduce jargon in medical text with a T5-based sequence-to-sequence model.</a:t>
            </a:r>
            <a:endParaRPr lang="en-US" sz="3200" dirty="0"/>
          </a:p>
          <a:p>
            <a:pPr algn="l" indent="0" marL="0">
              <a:buNone/>
            </a:pPr>
            <a:r>
              <a:rPr lang="en-US" sz="31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Predict true / false / mixed / unproven labels with a DistilBERT classifier.</a:t>
            </a:r>
            <a:endParaRPr lang="en-US" sz="3200" dirty="0"/>
          </a:p>
          <a:p>
            <a:pPr algn="l" indent="0" marL="0">
              <a:buNone/>
            </a:pPr>
            <a:r>
              <a:rPr lang="en-US" sz="31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Return both outputs through a lightweight Streamlit web app for non-technical users.</a:t>
            </a:r>
            <a:endParaRPr lang="en-US" sz="3200" dirty="0"/>
          </a:p>
          <a:p>
            <a:pPr algn="l" indent="0" marL="0">
              <a:buNone/>
            </a:pPr>
            <a:r>
              <a:rPr lang="en-US" sz="31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Support patients, caregivers, and those reading web-based medical explanations.</a:t>
            </a:r>
            <a:endParaRPr lang="en-US" sz="3200" dirty="0"/>
          </a:p>
        </p:txBody>
      </p:sp>
      <p:sp>
        <p:nvSpPr>
          <p:cNvPr id="33" name="Text 30"/>
          <p:cNvSpPr/>
          <p:nvPr/>
        </p:nvSpPr>
        <p:spPr>
          <a:xfrm>
            <a:off x="521208" y="25072848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 cases</a:t>
            </a:r>
            <a:endParaRPr lang="en-US" sz="6000" dirty="0"/>
          </a:p>
        </p:txBody>
      </p:sp>
      <p:sp>
        <p:nvSpPr>
          <p:cNvPr id="34" name="Shape 31"/>
          <p:cNvSpPr/>
          <p:nvPr/>
        </p:nvSpPr>
        <p:spPr>
          <a:xfrm>
            <a:off x="576072" y="25630632"/>
            <a:ext cx="9866376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" y="25950672"/>
            <a:ext cx="9555480" cy="4526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31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Search snippets and online health articles</a:t>
            </a:r>
            <a:endParaRPr lang="en-US" sz="3395" dirty="0"/>
          </a:p>
          <a:p>
            <a:pPr algn="l" indent="0" marL="0">
              <a:buNone/>
            </a:pPr>
            <a:r>
              <a:rPr lang="en-US" sz="331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Discharge instructions and medication guidance</a:t>
            </a:r>
            <a:endParaRPr lang="en-US" sz="3395" dirty="0"/>
          </a:p>
          <a:p>
            <a:pPr algn="l" indent="0" marL="0">
              <a:buNone/>
            </a:pPr>
            <a:r>
              <a:rPr lang="en-US" sz="331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Plain-language medical definitions on the web</a:t>
            </a:r>
            <a:endParaRPr lang="en-US" sz="3395" dirty="0"/>
          </a:p>
          <a:p>
            <a:pPr algn="l" indent="0" marL="0">
              <a:buNone/>
            </a:pPr>
            <a:r>
              <a:rPr lang="en-US" sz="331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Quick checks on suspicious or confusing claims</a:t>
            </a:r>
            <a:endParaRPr lang="en-US" sz="3395" dirty="0"/>
          </a:p>
        </p:txBody>
      </p:sp>
      <p:sp>
        <p:nvSpPr>
          <p:cNvPr id="36" name="Text 33"/>
          <p:cNvSpPr/>
          <p:nvPr/>
        </p:nvSpPr>
        <p:spPr>
          <a:xfrm>
            <a:off x="11292840" y="4892040"/>
            <a:ext cx="10012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</a:t>
            </a:r>
            <a:endParaRPr lang="en-US" sz="8200" dirty="0"/>
          </a:p>
        </p:txBody>
      </p:sp>
      <p:sp>
        <p:nvSpPr>
          <p:cNvPr id="37" name="Text 34"/>
          <p:cNvSpPr/>
          <p:nvPr/>
        </p:nvSpPr>
        <p:spPr>
          <a:xfrm>
            <a:off x="11365992" y="5650992"/>
            <a:ext cx="9866376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just" indent="0" marL="0">
              <a:buNone/>
            </a:pPr>
            <a:r>
              <a:rPr lang="en-US" sz="31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MediClear is a Python-based NLP system for two medical tasks: (1) text simplification and (2) health-claim credibility assessment. Given a source passage or claim, the system produces a plain-English rewrite and a credibility label with confidence. The design goal is practical rather than purely benchmark-driven: help users understand medical language more comfortably while also flagging claims that may deserve skepticism or follow-up. The prototype is delivered through a Streamlit interface for interactive inference.</a:t>
            </a:r>
            <a:endParaRPr lang="en-US" sz="3200" dirty="0"/>
          </a:p>
        </p:txBody>
      </p:sp>
      <p:sp>
        <p:nvSpPr>
          <p:cNvPr id="38" name="Shape 35"/>
          <p:cNvSpPr/>
          <p:nvPr/>
        </p:nvSpPr>
        <p:spPr>
          <a:xfrm>
            <a:off x="11494008" y="9784080"/>
            <a:ext cx="2651760" cy="585216"/>
          </a:xfrm>
          <a:prstGeom prst="roundRect">
            <a:avLst>
              <a:gd name="adj" fmla="val 13043"/>
            </a:avLst>
          </a:prstGeom>
          <a:solidFill>
            <a:srgbClr val="F7F7F7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494008" y="9802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Simplifier</a:t>
            </a:r>
            <a:endParaRPr lang="en-US" sz="2600" dirty="0"/>
          </a:p>
        </p:txBody>
      </p:sp>
      <p:sp>
        <p:nvSpPr>
          <p:cNvPr id="40" name="Shape 37"/>
          <p:cNvSpPr/>
          <p:nvPr/>
        </p:nvSpPr>
        <p:spPr>
          <a:xfrm>
            <a:off x="14968728" y="9784080"/>
            <a:ext cx="2331720" cy="585216"/>
          </a:xfrm>
          <a:prstGeom prst="roundRect">
            <a:avLst>
              <a:gd name="adj" fmla="val 13043"/>
            </a:avLst>
          </a:prstGeom>
          <a:solidFill>
            <a:srgbClr val="F7F7F7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4968728" y="98023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</a:t>
            </a:r>
            <a:endParaRPr lang="en-US" sz="2600" dirty="0"/>
          </a:p>
        </p:txBody>
      </p:sp>
      <p:sp>
        <p:nvSpPr>
          <p:cNvPr id="42" name="Shape 39"/>
          <p:cNvSpPr/>
          <p:nvPr/>
        </p:nvSpPr>
        <p:spPr>
          <a:xfrm>
            <a:off x="17876520" y="9784080"/>
            <a:ext cx="3017520" cy="585216"/>
          </a:xfrm>
          <a:prstGeom prst="roundRect">
            <a:avLst>
              <a:gd name="adj" fmla="val 13043"/>
            </a:avLst>
          </a:prstGeom>
          <a:solidFill>
            <a:srgbClr val="F7F7F7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7876520" y="9802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</a:t>
            </a:r>
            <a:endParaRPr lang="en-US" sz="2600" dirty="0"/>
          </a:p>
        </p:txBody>
      </p:sp>
      <p:sp>
        <p:nvSpPr>
          <p:cNvPr id="44" name="Text 41"/>
          <p:cNvSpPr/>
          <p:nvPr/>
        </p:nvSpPr>
        <p:spPr>
          <a:xfrm>
            <a:off x="11512296" y="1022299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fine-tuned on Cochrane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14987016" y="10222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on PUBHEALTH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17894808" y="102229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demo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11292840" y="10972800"/>
            <a:ext cx="10012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8200" dirty="0"/>
          </a:p>
        </p:txBody>
      </p:sp>
      <p:sp>
        <p:nvSpPr>
          <p:cNvPr id="48" name="Text 45"/>
          <p:cNvSpPr/>
          <p:nvPr/>
        </p:nvSpPr>
        <p:spPr>
          <a:xfrm>
            <a:off x="11365992" y="11631168"/>
            <a:ext cx="9866376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Fine-tuned T5 encoder-decoder on complex–simple sentence pairs from the Cochrane medical simplification dataset.</a:t>
            </a:r>
            <a:endParaRPr lang="en-US" sz="3100" dirty="0"/>
          </a:p>
          <a:p>
            <a:pPr algn="l" indent="0" marL="0">
              <a:buNone/>
            </a:pPr>
            <a:r>
              <a:rPr lang="en-US" sz="30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Trained DistilBERT on PUBHEALTH, a fact-checked collection of public-health claims.</a:t>
            </a:r>
            <a:endParaRPr lang="en-US" sz="3100" dirty="0"/>
          </a:p>
          <a:p>
            <a:pPr algn="l" indent="0" marL="0">
              <a:buNone/>
            </a:pPr>
            <a:r>
              <a:rPr lang="en-US" sz="30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Simplification favors meaning-preserving paraphrase instead of exact surface overlap with references.</a:t>
            </a:r>
            <a:endParaRPr lang="en-US" sz="3100" dirty="0"/>
          </a:p>
          <a:p>
            <a:pPr algn="l" indent="0" marL="0">
              <a:buNone/>
            </a:pPr>
            <a:r>
              <a:rPr lang="en-US" sz="30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Credibility output includes a predicted label and a confidence score for user-facing interpretation.</a:t>
            </a:r>
            <a:endParaRPr lang="en-US" sz="3100" dirty="0"/>
          </a:p>
        </p:txBody>
      </p:sp>
      <p:sp>
        <p:nvSpPr>
          <p:cNvPr id="49" name="Text 46"/>
          <p:cNvSpPr/>
          <p:nvPr/>
        </p:nvSpPr>
        <p:spPr>
          <a:xfrm>
            <a:off x="11311128" y="15956280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formulation</a:t>
            </a:r>
            <a:endParaRPr lang="en-US" sz="600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57432" y="16504920"/>
            <a:ext cx="4480560" cy="822960"/>
          </a:xfrm>
          <a:prstGeom prst="rect">
            <a:avLst/>
          </a:prstGeom>
        </p:spPr>
      </p:pic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04920" y="16504920"/>
            <a:ext cx="4526280" cy="82296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11457432" y="17373600"/>
            <a:ext cx="9683496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Here, x is the source medical text, y is the simplified rewrite, and c is the predicted credibility class.</a:t>
            </a:r>
            <a:endParaRPr lang="en-US" sz="1800" dirty="0"/>
          </a:p>
        </p:txBody>
      </p:sp>
      <p:sp>
        <p:nvSpPr>
          <p:cNvPr id="53" name="Text 48"/>
          <p:cNvSpPr/>
          <p:nvPr/>
        </p:nvSpPr>
        <p:spPr>
          <a:xfrm>
            <a:off x="11311128" y="18013680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Pipeline</a:t>
            </a:r>
            <a:endParaRPr lang="en-US" sz="6000" dirty="0"/>
          </a:p>
        </p:txBody>
      </p:sp>
      <p:sp>
        <p:nvSpPr>
          <p:cNvPr id="54" name="Shape 49"/>
          <p:cNvSpPr/>
          <p:nvPr/>
        </p:nvSpPr>
        <p:spPr>
          <a:xfrm>
            <a:off x="14173200" y="18699480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12700">
            <a:solidFill>
              <a:srgbClr val="C4CDD5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14173200" y="18818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input: complex medical text</a:t>
            </a:r>
            <a:endParaRPr lang="en-US" sz="2400" dirty="0"/>
          </a:p>
        </p:txBody>
      </p:sp>
      <p:sp>
        <p:nvSpPr>
          <p:cNvPr id="56" name="Shape 5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00274C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00274C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1841480" y="20253960"/>
            <a:ext cx="3749040" cy="1234440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12700">
            <a:solidFill>
              <a:srgbClr val="BFC9D2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7007840" y="20253960"/>
            <a:ext cx="3749040" cy="1234440"/>
          </a:xfrm>
          <a:prstGeom prst="roundRect">
            <a:avLst>
              <a:gd name="adj" fmla="val 6400"/>
            </a:avLst>
          </a:prstGeom>
          <a:solidFill>
            <a:srgbClr val="FFF9E8"/>
          </a:solidFill>
          <a:ln w="12700">
            <a:solidFill>
              <a:srgbClr val="D9C16B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11841480" y="20482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Simplifier</a:t>
            </a:r>
            <a:endParaRPr lang="en-US" sz="2400" dirty="0"/>
          </a:p>
        </p:txBody>
      </p:sp>
      <p:sp>
        <p:nvSpPr>
          <p:cNvPr id="61" name="Text 56"/>
          <p:cNvSpPr/>
          <p:nvPr/>
        </p:nvSpPr>
        <p:spPr>
          <a:xfrm>
            <a:off x="11841480" y="20866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on Cochrane</a:t>
            </a:r>
            <a:endParaRPr lang="en-US" sz="1400" dirty="0"/>
          </a:p>
        </p:txBody>
      </p:sp>
      <p:sp>
        <p:nvSpPr>
          <p:cNvPr id="62" name="Text 57"/>
          <p:cNvSpPr/>
          <p:nvPr/>
        </p:nvSpPr>
        <p:spPr>
          <a:xfrm>
            <a:off x="17007840" y="20482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 Classifier</a:t>
            </a:r>
            <a:endParaRPr lang="en-US" sz="2400" dirty="0"/>
          </a:p>
        </p:txBody>
      </p:sp>
      <p:sp>
        <p:nvSpPr>
          <p:cNvPr id="63" name="Text 58"/>
          <p:cNvSpPr/>
          <p:nvPr/>
        </p:nvSpPr>
        <p:spPr>
          <a:xfrm>
            <a:off x="17007840" y="20866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on PUBHEALTH</a:t>
            </a:r>
            <a:endParaRPr lang="en-US" sz="1400" dirty="0"/>
          </a:p>
        </p:txBody>
      </p:sp>
      <p:sp>
        <p:nvSpPr>
          <p:cNvPr id="64" name="Shape 59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00274C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00274C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1795760" y="22402800"/>
            <a:ext cx="3840480" cy="822960"/>
          </a:xfrm>
          <a:prstGeom prst="roundRect">
            <a:avLst>
              <a:gd name="adj" fmla="val 9756"/>
            </a:avLst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6779240" y="22402800"/>
            <a:ext cx="4251960" cy="822960"/>
          </a:xfrm>
          <a:prstGeom prst="roundRect">
            <a:avLst>
              <a:gd name="adj" fmla="val 9756"/>
            </a:avLst>
          </a:prstGeom>
          <a:solidFill>
            <a:srgbClr val="F8F8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11795760" y="22576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text</a:t>
            </a:r>
            <a:endParaRPr lang="en-US" sz="2200" dirty="0"/>
          </a:p>
        </p:txBody>
      </p:sp>
      <p:sp>
        <p:nvSpPr>
          <p:cNvPr id="69" name="Text 64"/>
          <p:cNvSpPr/>
          <p:nvPr/>
        </p:nvSpPr>
        <p:spPr>
          <a:xfrm>
            <a:off x="11795760" y="228874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plain-English rewrite</a:t>
            </a:r>
            <a:endParaRPr lang="en-US" sz="1300" dirty="0"/>
          </a:p>
        </p:txBody>
      </p:sp>
      <p:sp>
        <p:nvSpPr>
          <p:cNvPr id="70" name="Text 65"/>
          <p:cNvSpPr/>
          <p:nvPr/>
        </p:nvSpPr>
        <p:spPr>
          <a:xfrm>
            <a:off x="16779240" y="2257653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label + confidence</a:t>
            </a:r>
            <a:endParaRPr lang="en-US" sz="2200" dirty="0"/>
          </a:p>
        </p:txBody>
      </p:sp>
      <p:sp>
        <p:nvSpPr>
          <p:cNvPr id="71" name="Text 66"/>
          <p:cNvSpPr/>
          <p:nvPr/>
        </p:nvSpPr>
        <p:spPr>
          <a:xfrm>
            <a:off x="16779240" y="22887432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 / false / mixed / unproven</a:t>
            </a:r>
            <a:endParaRPr lang="en-US" sz="1300" dirty="0"/>
          </a:p>
        </p:txBody>
      </p:sp>
      <p:sp>
        <p:nvSpPr>
          <p:cNvPr id="72" name="Shape 67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00274C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00274C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14493240" y="23929848"/>
            <a:ext cx="3749040" cy="768096"/>
          </a:xfrm>
          <a:prstGeom prst="roundRect">
            <a:avLst>
              <a:gd name="adj" fmla="val 9524"/>
            </a:avLst>
          </a:prstGeom>
          <a:solidFill>
            <a:srgbClr val="00274C"/>
          </a:solidFill>
          <a:ln w="12700">
            <a:solidFill>
              <a:srgbClr val="00274C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14493240" y="2412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</a:t>
            </a:r>
            <a:endParaRPr lang="en-US" sz="2200" dirty="0"/>
          </a:p>
        </p:txBody>
      </p:sp>
      <p:sp>
        <p:nvSpPr>
          <p:cNvPr id="76" name="Text 71"/>
          <p:cNvSpPr/>
          <p:nvPr/>
        </p:nvSpPr>
        <p:spPr>
          <a:xfrm>
            <a:off x="11311128" y="25100280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interface</a:t>
            </a:r>
            <a:endParaRPr lang="en-US" sz="6000" dirty="0"/>
          </a:p>
        </p:txBody>
      </p:sp>
      <p:pic>
        <p:nvPicPr>
          <p:cNvPr id="77" name="Image 2" descr="/mnt/data/poster_redesign_assets/streamlit_m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9862" y="25694640"/>
            <a:ext cx="7458635" cy="4754880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11475720" y="30504384"/>
            <a:ext cx="96469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interface returns the rewrite, predicted label, confidence, and class probabilities in one screen.</a:t>
            </a:r>
            <a:endParaRPr lang="en-US" sz="1600" dirty="0"/>
          </a:p>
        </p:txBody>
      </p:sp>
      <p:sp>
        <p:nvSpPr>
          <p:cNvPr id="79" name="Text 73"/>
          <p:cNvSpPr/>
          <p:nvPr/>
        </p:nvSpPr>
        <p:spPr>
          <a:xfrm>
            <a:off x="22265640" y="4892040"/>
            <a:ext cx="10012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8200" dirty="0"/>
          </a:p>
        </p:txBody>
      </p:sp>
      <p:pic>
        <p:nvPicPr>
          <p:cNvPr id="80" name="Image 3" descr="/mnt/data/poster_redesign_assets/simplification_metric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38792" y="6091047"/>
            <a:ext cx="4736592" cy="2960370"/>
          </a:xfrm>
          <a:prstGeom prst="rect">
            <a:avLst/>
          </a:prstGeom>
        </p:spPr>
      </p:pic>
      <p:pic>
        <p:nvPicPr>
          <p:cNvPr id="81" name="Image 4" descr="/mnt/data/poster_redesign_assets/credibility_metric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04568" y="6091047"/>
            <a:ext cx="4736592" cy="2960370"/>
          </a:xfrm>
          <a:prstGeom prst="rect">
            <a:avLst/>
          </a:prstGeom>
        </p:spPr>
      </p:pic>
      <p:sp>
        <p:nvSpPr>
          <p:cNvPr id="82" name="Text 74"/>
          <p:cNvSpPr/>
          <p:nvPr/>
        </p:nvSpPr>
        <p:spPr>
          <a:xfrm>
            <a:off x="22411944" y="9582912"/>
            <a:ext cx="9720072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823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interpretation: SARI better captures meaningful simplification edits than BLEU, while the credibility branch is functional but still uneven across classes.</a:t>
            </a:r>
            <a:endParaRPr lang="en-US" sz="1853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338792" y="10561320"/>
          <a:ext cx="9866376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2560320"/>
                <a:gridCol w="2606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Task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Score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Simplification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BLEU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3.60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Simplification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SARI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35.28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Credibility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0.56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Credibility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Macro-F1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0.31</a:t>
                      </a:r>
                      <a:endParaRPr lang="en-US" sz="2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Text 75"/>
          <p:cNvSpPr/>
          <p:nvPr/>
        </p:nvSpPr>
        <p:spPr>
          <a:xfrm>
            <a:off x="22283928" y="12911328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Simplification examples</a:t>
            </a:r>
            <a:endParaRPr lang="en-US" sz="60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338792" y="13496544"/>
          <a:ext cx="9866376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5111496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Original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Simplified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Patients with hypertension should reduce sodium intake.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People with high blood pressure should reduce salt intake.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patient is experiencing dyspnea during mild exertion.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person has shortness of breath with light activity.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Persistent edema may indicate underlying cardiac dysfunction.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Ongoing swelling may be a sign of a heart problem.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Topical corticosteroids can reduce inflammation and pruritus.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Steroid creams can lessen swelling and itching.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Text 76"/>
          <p:cNvSpPr/>
          <p:nvPr/>
        </p:nvSpPr>
        <p:spPr>
          <a:xfrm>
            <a:off x="22283928" y="17629632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examples</a:t>
            </a:r>
            <a:endParaRPr lang="en-US" sz="60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338792" y="18214848"/>
          <a:ext cx="9866376" cy="914400"/>
        </p:xfrm>
        <a:graphic>
          <a:graphicData uri="http://schemas.openxmlformats.org/drawingml/2006/table">
            <a:tbl>
              <a:tblPr/>
              <a:tblGrid>
                <a:gridCol w="6355080"/>
                <a:gridCol w="1783080"/>
                <a:gridCol w="172821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Claim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Conf.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7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Drinking lemon water cures cancer instantly.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FALSE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Vaccines cause autism in children.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FALSE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Getting vaccinated can reduce the risk of influenza infection.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TRUE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Some studies suggest that exercise may improve mental health.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TRUE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mid">
                    <a:lnL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8" name="Text 77"/>
          <p:cNvSpPr/>
          <p:nvPr/>
        </p:nvSpPr>
        <p:spPr>
          <a:xfrm>
            <a:off x="22283928" y="21598128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6000" dirty="0"/>
          </a:p>
        </p:txBody>
      </p:sp>
      <p:sp>
        <p:nvSpPr>
          <p:cNvPr id="89" name="Text 78"/>
          <p:cNvSpPr/>
          <p:nvPr/>
        </p:nvSpPr>
        <p:spPr>
          <a:xfrm>
            <a:off x="22338792" y="22165056"/>
            <a:ext cx="9866376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497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end-to-end pipeline runs reliably and is easy to demonstrate through the web interface.</a:t>
            </a:r>
            <a:endParaRPr lang="en-US" sz="3577" dirty="0"/>
          </a:p>
          <a:p>
            <a:pPr algn="l" indent="0" marL="0">
              <a:buNone/>
            </a:pPr>
            <a:r>
              <a:rPr lang="en-US" sz="3497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SARI indicates meaningful edits even when BLEU remains low because simplifications are paraphrastic.</a:t>
            </a:r>
            <a:endParaRPr lang="en-US" sz="3577" dirty="0"/>
          </a:p>
          <a:p>
            <a:pPr algn="l" indent="0" marL="0">
              <a:buNone/>
            </a:pPr>
            <a:r>
              <a:rPr lang="en-US" sz="3497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Accuracy is moderate, but macro-F1 shows that minority classes remain substantially harder to predict.</a:t>
            </a:r>
            <a:endParaRPr lang="en-US" sz="3577" dirty="0"/>
          </a:p>
        </p:txBody>
      </p:sp>
      <p:sp>
        <p:nvSpPr>
          <p:cNvPr id="90" name="Text 79"/>
          <p:cNvSpPr/>
          <p:nvPr/>
        </p:nvSpPr>
        <p:spPr>
          <a:xfrm>
            <a:off x="22283928" y="26554176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assessment</a:t>
            </a:r>
            <a:endParaRPr lang="en-US" sz="6000" dirty="0"/>
          </a:p>
        </p:txBody>
      </p:sp>
      <p:sp>
        <p:nvSpPr>
          <p:cNvPr id="91" name="Shape 80"/>
          <p:cNvSpPr/>
          <p:nvPr/>
        </p:nvSpPr>
        <p:spPr>
          <a:xfrm>
            <a:off x="22338792" y="27121104"/>
            <a:ext cx="9866376" cy="3675888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2" name="Text 81"/>
          <p:cNvSpPr/>
          <p:nvPr/>
        </p:nvSpPr>
        <p:spPr>
          <a:xfrm>
            <a:off x="22466808" y="27459432"/>
            <a:ext cx="9610344" cy="2999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3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MediClear is a working end-to-end prototype for medical simplification plus credibility scoring. The current results are promising enough for demos, but both models need more tuning, more balanced data, and stronger evaluation.</a:t>
            </a:r>
            <a:endParaRPr lang="en-US" sz="3195" dirty="0"/>
          </a:p>
        </p:txBody>
      </p:sp>
      <p:sp>
        <p:nvSpPr>
          <p:cNvPr id="93" name="Text 82"/>
          <p:cNvSpPr/>
          <p:nvPr/>
        </p:nvSpPr>
        <p:spPr>
          <a:xfrm>
            <a:off x="33238440" y="4892040"/>
            <a:ext cx="10012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8200" dirty="0"/>
          </a:p>
        </p:txBody>
      </p:sp>
      <p:sp>
        <p:nvSpPr>
          <p:cNvPr id="94" name="Text 83"/>
          <p:cNvSpPr/>
          <p:nvPr/>
        </p:nvSpPr>
        <p:spPr>
          <a:xfrm>
            <a:off x="33256728" y="5577840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</a:t>
            </a:r>
            <a:endParaRPr lang="en-US" sz="6000" dirty="0"/>
          </a:p>
        </p:txBody>
      </p:sp>
      <p:sp>
        <p:nvSpPr>
          <p:cNvPr id="95" name="Text 84"/>
          <p:cNvSpPr/>
          <p:nvPr/>
        </p:nvSpPr>
        <p:spPr>
          <a:xfrm>
            <a:off x="33311592" y="6126480"/>
            <a:ext cx="9866376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432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 single input returns both a plain-English rewrite and a credibility estimate.</a:t>
            </a:r>
            <a:endParaRPr lang="en-US" sz="3532" dirty="0"/>
          </a:p>
          <a:p>
            <a:pPr algn="l" indent="0" marL="0">
              <a:buNone/>
            </a:pPr>
            <a:r>
              <a:rPr lang="en-US" sz="3432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Streamlit makes the prototype easy to demo without local setup or command-line interaction.</a:t>
            </a:r>
            <a:endParaRPr lang="en-US" sz="3532" dirty="0"/>
          </a:p>
          <a:p>
            <a:pPr algn="l" indent="0" marL="0">
              <a:buNone/>
            </a:pPr>
            <a:r>
              <a:rPr lang="en-US" sz="3432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Qualitative outputs show helpful replacements such as hypertension → high blood pressure.</a:t>
            </a:r>
            <a:endParaRPr lang="en-US" sz="3532" dirty="0"/>
          </a:p>
        </p:txBody>
      </p:sp>
      <p:sp>
        <p:nvSpPr>
          <p:cNvPr id="96" name="Text 85"/>
          <p:cNvSpPr/>
          <p:nvPr/>
        </p:nvSpPr>
        <p:spPr>
          <a:xfrm>
            <a:off x="33256728" y="9674352"/>
            <a:ext cx="9976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6000" dirty="0"/>
          </a:p>
        </p:txBody>
      </p:sp>
      <p:sp>
        <p:nvSpPr>
          <p:cNvPr id="97" name="Text 86"/>
          <p:cNvSpPr/>
          <p:nvPr/>
        </p:nvSpPr>
        <p:spPr>
          <a:xfrm>
            <a:off x="33311592" y="10222992"/>
            <a:ext cx="9866376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117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BLEU is harsh on good paraphrases, so simplification quality looks worse than it feels qualitatively.</a:t>
            </a:r>
            <a:endParaRPr lang="en-US" sz="3217" dirty="0"/>
          </a:p>
          <a:p>
            <a:pPr algn="l" indent="0" marL="0">
              <a:buNone/>
            </a:pPr>
            <a:r>
              <a:rPr lang="en-US" sz="3117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Macro-F1 remains low because PUBHEALTH is heavily imbalanced toward true claims.</a:t>
            </a:r>
            <a:endParaRPr lang="en-US" sz="3217" dirty="0"/>
          </a:p>
          <a:p>
            <a:pPr algn="l" indent="0" marL="0">
              <a:buNone/>
            </a:pPr>
            <a:r>
              <a:rPr lang="en-US" sz="3117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credibility model scores claims but does not retrieve supporting evidence or counter-evidence.</a:t>
            </a:r>
            <a:endParaRPr lang="en-US" sz="3217" dirty="0"/>
          </a:p>
          <a:p>
            <a:pPr algn="l" indent="0" marL="0">
              <a:buNone/>
            </a:pPr>
            <a:r>
              <a:rPr lang="en-US" sz="3117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No human study was run, so readability gains and user trust were not clinically validated.</a:t>
            </a:r>
            <a:endParaRPr lang="en-US" sz="3217" dirty="0"/>
          </a:p>
        </p:txBody>
      </p:sp>
      <p:sp>
        <p:nvSpPr>
          <p:cNvPr id="98" name="Text 87"/>
          <p:cNvSpPr/>
          <p:nvPr/>
        </p:nvSpPr>
        <p:spPr>
          <a:xfrm>
            <a:off x="33238440" y="14584680"/>
            <a:ext cx="10012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8200" dirty="0"/>
          </a:p>
        </p:txBody>
      </p:sp>
      <p:sp>
        <p:nvSpPr>
          <p:cNvPr id="99" name="Shape 88"/>
          <p:cNvSpPr/>
          <p:nvPr/>
        </p:nvSpPr>
        <p:spPr>
          <a:xfrm>
            <a:off x="33512760" y="15435072"/>
            <a:ext cx="4526280" cy="1737360"/>
          </a:xfrm>
          <a:prstGeom prst="roundRect">
            <a:avLst>
              <a:gd name="adj" fmla="val 4211"/>
            </a:avLst>
          </a:prstGeom>
          <a:solidFill>
            <a:srgbClr val="FBFBFB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00" name="Text 89"/>
          <p:cNvSpPr/>
          <p:nvPr/>
        </p:nvSpPr>
        <p:spPr>
          <a:xfrm>
            <a:off x="33649920" y="1559966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2400" dirty="0"/>
          </a:p>
        </p:txBody>
      </p:sp>
      <p:sp>
        <p:nvSpPr>
          <p:cNvPr id="101" name="Text 90"/>
          <p:cNvSpPr/>
          <p:nvPr/>
        </p:nvSpPr>
        <p:spPr>
          <a:xfrm>
            <a:off x="33649920" y="1594713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Raffel et al. (2020)</a:t>
            </a:r>
            <a:endParaRPr lang="en-US" sz="1400" dirty="0"/>
          </a:p>
        </p:txBody>
      </p:sp>
      <p:sp>
        <p:nvSpPr>
          <p:cNvPr id="102" name="Text 91"/>
          <p:cNvSpPr/>
          <p:nvPr/>
        </p:nvSpPr>
        <p:spPr>
          <a:xfrm>
            <a:off x="33695640" y="163220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text-to-text transfer learning</a:t>
            </a:r>
            <a:endParaRPr lang="en-US" sz="1800" dirty="0"/>
          </a:p>
        </p:txBody>
      </p:sp>
      <p:sp>
        <p:nvSpPr>
          <p:cNvPr id="103" name="Shape 92"/>
          <p:cNvSpPr/>
          <p:nvPr/>
        </p:nvSpPr>
        <p:spPr>
          <a:xfrm>
            <a:off x="38541960" y="15435072"/>
            <a:ext cx="4526280" cy="1737360"/>
          </a:xfrm>
          <a:prstGeom prst="roundRect">
            <a:avLst>
              <a:gd name="adj" fmla="val 4211"/>
            </a:avLst>
          </a:prstGeom>
          <a:solidFill>
            <a:srgbClr val="FBFBFB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04" name="Text 93"/>
          <p:cNvSpPr/>
          <p:nvPr/>
        </p:nvSpPr>
        <p:spPr>
          <a:xfrm>
            <a:off x="38679120" y="1559966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PUBHEALTH</a:t>
            </a:r>
            <a:endParaRPr lang="en-US" sz="2400" dirty="0"/>
          </a:p>
        </p:txBody>
      </p:sp>
      <p:sp>
        <p:nvSpPr>
          <p:cNvPr id="105" name="Text 94"/>
          <p:cNvSpPr/>
          <p:nvPr/>
        </p:nvSpPr>
        <p:spPr>
          <a:xfrm>
            <a:off x="38679120" y="1594713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Kotonya &amp; Toni (2020)</a:t>
            </a:r>
            <a:endParaRPr lang="en-US" sz="1400" dirty="0"/>
          </a:p>
        </p:txBody>
      </p:sp>
      <p:sp>
        <p:nvSpPr>
          <p:cNvPr id="106" name="Text 95"/>
          <p:cNvSpPr/>
          <p:nvPr/>
        </p:nvSpPr>
        <p:spPr>
          <a:xfrm>
            <a:off x="38724840" y="163220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public-health claim checking</a:t>
            </a:r>
            <a:endParaRPr lang="en-US" sz="1800" dirty="0"/>
          </a:p>
        </p:txBody>
      </p:sp>
      <p:sp>
        <p:nvSpPr>
          <p:cNvPr id="107" name="Shape 96"/>
          <p:cNvSpPr/>
          <p:nvPr/>
        </p:nvSpPr>
        <p:spPr>
          <a:xfrm>
            <a:off x="33512760" y="17583912"/>
            <a:ext cx="4526280" cy="1737360"/>
          </a:xfrm>
          <a:prstGeom prst="roundRect">
            <a:avLst>
              <a:gd name="adj" fmla="val 4211"/>
            </a:avLst>
          </a:prstGeom>
          <a:solidFill>
            <a:srgbClr val="FBFBFB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08" name="Text 97"/>
          <p:cNvSpPr/>
          <p:nvPr/>
        </p:nvSpPr>
        <p:spPr>
          <a:xfrm>
            <a:off x="33649920" y="1774850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Cochrane</a:t>
            </a:r>
            <a:endParaRPr lang="en-US" sz="2400" dirty="0"/>
          </a:p>
        </p:txBody>
      </p:sp>
      <p:sp>
        <p:nvSpPr>
          <p:cNvPr id="109" name="Text 98"/>
          <p:cNvSpPr/>
          <p:nvPr/>
        </p:nvSpPr>
        <p:spPr>
          <a:xfrm>
            <a:off x="33649920" y="1809597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Devaraj et al. (2021)</a:t>
            </a:r>
            <a:endParaRPr lang="en-US" sz="1400" dirty="0"/>
          </a:p>
        </p:txBody>
      </p:sp>
      <p:sp>
        <p:nvSpPr>
          <p:cNvPr id="110" name="Text 99"/>
          <p:cNvSpPr/>
          <p:nvPr/>
        </p:nvSpPr>
        <p:spPr>
          <a:xfrm>
            <a:off x="33695640" y="184708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medical simplification pairs</a:t>
            </a:r>
            <a:endParaRPr lang="en-US" sz="1800" dirty="0"/>
          </a:p>
        </p:txBody>
      </p:sp>
      <p:sp>
        <p:nvSpPr>
          <p:cNvPr id="111" name="Shape 100"/>
          <p:cNvSpPr/>
          <p:nvPr/>
        </p:nvSpPr>
        <p:spPr>
          <a:xfrm>
            <a:off x="38541960" y="17583912"/>
            <a:ext cx="4526280" cy="1737360"/>
          </a:xfrm>
          <a:prstGeom prst="roundRect">
            <a:avLst>
              <a:gd name="adj" fmla="val 4211"/>
            </a:avLst>
          </a:prstGeom>
          <a:solidFill>
            <a:srgbClr val="FBFBFB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12" name="Text 101"/>
          <p:cNvSpPr/>
          <p:nvPr/>
        </p:nvSpPr>
        <p:spPr>
          <a:xfrm>
            <a:off x="38679120" y="1774850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</a:t>
            </a:r>
            <a:endParaRPr lang="en-US" sz="2400" dirty="0"/>
          </a:p>
        </p:txBody>
      </p:sp>
      <p:sp>
        <p:nvSpPr>
          <p:cNvPr id="113" name="Text 102"/>
          <p:cNvSpPr/>
          <p:nvPr/>
        </p:nvSpPr>
        <p:spPr>
          <a:xfrm>
            <a:off x="38679120" y="1809597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Sanh et al. (2019)</a:t>
            </a:r>
            <a:endParaRPr lang="en-US" sz="1400" dirty="0"/>
          </a:p>
        </p:txBody>
      </p:sp>
      <p:sp>
        <p:nvSpPr>
          <p:cNvPr id="114" name="Text 103"/>
          <p:cNvSpPr/>
          <p:nvPr/>
        </p:nvSpPr>
        <p:spPr>
          <a:xfrm>
            <a:off x="38724840" y="184708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smaller, faster BERT</a:t>
            </a:r>
            <a:endParaRPr lang="en-US" sz="1800" dirty="0"/>
          </a:p>
        </p:txBody>
      </p:sp>
      <p:sp>
        <p:nvSpPr>
          <p:cNvPr id="115" name="Text 104"/>
          <p:cNvSpPr/>
          <p:nvPr/>
        </p:nvSpPr>
        <p:spPr>
          <a:xfrm>
            <a:off x="33238440" y="19888200"/>
            <a:ext cx="10012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8200" dirty="0"/>
          </a:p>
        </p:txBody>
      </p:sp>
      <p:sp>
        <p:nvSpPr>
          <p:cNvPr id="116" name="Text 105"/>
          <p:cNvSpPr/>
          <p:nvPr/>
        </p:nvSpPr>
        <p:spPr>
          <a:xfrm>
            <a:off x="33311592" y="20601432"/>
            <a:ext cx="9866376" cy="4434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6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Try stronger biomedical backbones such as BioGPT or PubMedBERT.</a:t>
            </a:r>
            <a:endParaRPr lang="en-US" sz="2700" dirty="0"/>
          </a:p>
          <a:p>
            <a:pPr algn="l" indent="0" marL="0">
              <a:buNone/>
            </a:pPr>
            <a:r>
              <a:rPr lang="en-US" sz="26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Address class imbalance with oversampling, augmentation, or weighted loss.</a:t>
            </a:r>
            <a:endParaRPr lang="en-US" sz="2700" dirty="0"/>
          </a:p>
          <a:p>
            <a:pPr algn="l" indent="0" marL="0">
              <a:buNone/>
            </a:pPr>
            <a:r>
              <a:rPr lang="en-US" sz="26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Expand simplification corpora and run longer fine-tuning.</a:t>
            </a:r>
            <a:endParaRPr lang="en-US" sz="2700" dirty="0"/>
          </a:p>
          <a:p>
            <a:pPr algn="l" indent="0" marL="0">
              <a:buNone/>
            </a:pPr>
            <a:r>
              <a:rPr lang="en-US" sz="26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Add explanation features that highlight which medical terms were simplified.</a:t>
            </a:r>
            <a:endParaRPr lang="en-US" sz="2700" dirty="0"/>
          </a:p>
          <a:p>
            <a:pPr algn="l" indent="0" marL="0">
              <a:buNone/>
            </a:pPr>
            <a:r>
              <a:rPr lang="en-US" sz="26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Run user studies with patients and caregivers to measure real readability gains.</a:t>
            </a:r>
            <a:endParaRPr lang="en-US" sz="2700" dirty="0"/>
          </a:p>
          <a:p>
            <a:pPr algn="l" indent="0" marL="0">
              <a:buNone/>
            </a:pPr>
            <a:r>
              <a:rPr lang="en-US" sz="262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Add evidence retrieval for credibility decisions instead of label-only scoring.</a:t>
            </a:r>
            <a:endParaRPr lang="en-US" sz="2700" dirty="0"/>
          </a:p>
        </p:txBody>
      </p:sp>
      <p:sp>
        <p:nvSpPr>
          <p:cNvPr id="117" name="Text 106"/>
          <p:cNvSpPr/>
          <p:nvPr/>
        </p:nvSpPr>
        <p:spPr>
          <a:xfrm>
            <a:off x="33238440" y="25402032"/>
            <a:ext cx="10012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8200" dirty="0"/>
          </a:p>
        </p:txBody>
      </p:sp>
      <p:sp>
        <p:nvSpPr>
          <p:cNvPr id="118" name="Text 107"/>
          <p:cNvSpPr/>
          <p:nvPr/>
        </p:nvSpPr>
        <p:spPr>
          <a:xfrm>
            <a:off x="33311592" y="26124408"/>
            <a:ext cx="9866376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56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Raffel et al. Exploring the Limits of Transfer Learning with a Unified Text-to-Text Transformer. JMLR, 2020.</a:t>
            </a:r>
            <a:endParaRPr lang="en-US" sz="2316" dirty="0"/>
          </a:p>
          <a:p>
            <a:pPr algn="l" indent="0" marL="0">
              <a:buNone/>
            </a:pPr>
            <a:r>
              <a:rPr lang="en-US" sz="2256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Devaraj et al. Paragraph-level Simplification of Medical Texts. NAACL, 2021.</a:t>
            </a:r>
            <a:endParaRPr lang="en-US" sz="2316" dirty="0"/>
          </a:p>
          <a:p>
            <a:pPr algn="l" indent="0" marL="0">
              <a:buNone/>
            </a:pPr>
            <a:r>
              <a:rPr lang="en-US" sz="2256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Kotonya &amp; Toni. Explainable Automated Fact-Checking for Public Health Claims. EMNLP, 2020.</a:t>
            </a:r>
            <a:endParaRPr lang="en-US" sz="2316" dirty="0"/>
          </a:p>
          <a:p>
            <a:pPr algn="l" indent="0" marL="0">
              <a:buNone/>
            </a:pPr>
            <a:r>
              <a:rPr lang="en-US" sz="2256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Sanh et al. DistilBERT: a distilled version of BERT. NeurIPS Workshop, 2019.</a:t>
            </a:r>
            <a:endParaRPr lang="en-US" sz="2316" dirty="0"/>
          </a:p>
          <a:p>
            <a:pPr algn="l" indent="0" marL="0">
              <a:buNone/>
            </a:pPr>
            <a:r>
              <a:rPr lang="en-US" sz="2256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Ondov et al. A survey of automated methods for biomedical text simplification. JAMIA, 2022.</a:t>
            </a:r>
            <a:endParaRPr lang="en-US" sz="2316" dirty="0"/>
          </a:p>
          <a:p>
            <a:pPr algn="l" indent="0" marL="0">
              <a:buNone/>
            </a:pPr>
            <a:r>
              <a:rPr lang="en-US" sz="2256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Basu et al. Med-EASi: Controllable Simplification of Medical Texts. AAAI, 2023.</a:t>
            </a:r>
            <a:endParaRPr lang="en-US" sz="2316" dirty="0"/>
          </a:p>
        </p:txBody>
      </p:sp>
      <p:sp>
        <p:nvSpPr>
          <p:cNvPr id="119" name="Shape 108"/>
          <p:cNvSpPr/>
          <p:nvPr/>
        </p:nvSpPr>
        <p:spPr>
          <a:xfrm>
            <a:off x="33512760" y="30678120"/>
            <a:ext cx="9464040" cy="1051560"/>
          </a:xfrm>
          <a:prstGeom prst="roundRect">
            <a:avLst>
              <a:gd name="adj" fmla="val 6957"/>
            </a:avLst>
          </a:prstGeom>
          <a:solidFill>
            <a:srgbClr val="F5F8FB"/>
          </a:solidFill>
          <a:ln w="12700">
            <a:solidFill>
              <a:srgbClr val="BFC9D4"/>
            </a:solidFill>
            <a:prstDash val="solid"/>
          </a:ln>
        </p:spPr>
      </p:sp>
      <p:sp>
        <p:nvSpPr>
          <p:cNvPr id="120" name="Text 109"/>
          <p:cNvSpPr/>
          <p:nvPr/>
        </p:nvSpPr>
        <p:spPr>
          <a:xfrm>
            <a:off x="33649920" y="30934152"/>
            <a:ext cx="9189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MediClear is most convincing as a readable, demoable prototype — not yet as a clinically validated trust signal.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MediClear: Medical Text Simplification with Credibility Scoring</dc:title>
  <dc:subject>MediClear academic poster</dc:subject>
  <dc:creator>OpenAI</dc:creator>
  <cp:lastModifiedBy>OpenAI</cp:lastModifiedBy>
  <cp:revision>1</cp:revision>
  <dcterms:created xsi:type="dcterms:W3CDTF">2026-04-14T06:59:30Z</dcterms:created>
  <dcterms:modified xsi:type="dcterms:W3CDTF">2026-04-14T06:59:30Z</dcterms:modified>
</cp:coreProperties>
</file>